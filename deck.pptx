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00D4FF"/>
                </a:solidFill>
                <a:latin typeface="Helvetica Neue"/>
              </a:rPr>
              <a:t>You Don't Need a Knowledge Graph</a:t>
            </a:r>
          </a:p>
          <a:p>
            <a:pPr algn="ctr">
              <a:spcBef>
                <a:spcPts val="2000"/>
              </a:spcBef>
            </a:pPr>
            <a:r>
              <a:rPr sz="2400" b="0" i="0">
                <a:solidFill>
                  <a:srgbClr val="E0E0E0"/>
                </a:solidFill>
                <a:latin typeface="Helvetica Neue"/>
              </a:rPr>
              <a:t>You Already Have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FF6B6B"/>
                </a:solidFill>
                <a:latin typeface="Helvetica Neue"/>
              </a:rPr>
              <a:t>The Semantic Layer as the Enterprise Knowledge Graph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i="0">
                <a:solidFill>
                  <a:srgbClr val="00D4FF"/>
                </a:solidFill>
                <a:latin typeface="Helvetica Neue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LLMs are great at understanding natural language.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They are terrible at: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 •  Being databases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 •  Doing math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 •  Remembering facts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 •  Statistical reasoning</a:t>
            </a:r>
          </a:p>
          <a:p>
            <a:pPr>
              <a:spcBef>
                <a:spcPts val="2000"/>
              </a:spcBef>
            </a:pPr>
            <a:r>
              <a:rPr sz="1600" b="0" i="1">
                <a:solidFill>
                  <a:srgbClr val="909090"/>
                </a:solidFill>
                <a:latin typeface="Helvetica Neue"/>
              </a:rPr>
              <a:t>The goal: make them use actual facts from data, not statistical correlation.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i="0">
                <a:solidFill>
                  <a:srgbClr val="00D4FF"/>
                </a:solidFill>
                <a:latin typeface="Helvetica Neue"/>
              </a:rPr>
              <a:t>The Conventional Wisdom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400" b="1" i="0">
                <a:solidFill>
                  <a:srgbClr val="E0E0E0"/>
                </a:solidFill>
                <a:latin typeface="Helvetica Neue"/>
              </a:rPr>
              <a:t>"You need a Knowledge Graph for AI"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Build a Neo4j database. ETL your warehouse into it.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Nodes, edges, Cypher queries. A whole new infrastructure layer.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 i="0">
                <a:solidFill>
                  <a:srgbClr val="00D4FF"/>
                </a:solidFill>
                <a:latin typeface="Helvetica Neue"/>
              </a:rPr>
              <a:t>But where do the relationships already live?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In your relational database.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Defined by foreign keys, joins, and business logic.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00D4FF"/>
                </a:solidFill>
                <a:latin typeface="Helvetica Neue"/>
              </a:rPr>
              <a:t>Two Paths to the Same Answer</a:t>
            </a:r>
          </a:p>
          <a:p>
            <a:pPr algn="ctr">
              <a:spcBef>
                <a:spcPts val="2000"/>
              </a:spcBef>
            </a:pPr>
            <a:r>
              <a:rPr sz="2400" b="0" i="0">
                <a:solidFill>
                  <a:srgbClr val="E0E0E0"/>
                </a:solidFill>
                <a:latin typeface="Helvetica Neue"/>
              </a:rPr>
              <a:t>"Who issued John Smith's insurance policy?"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i="0">
                <a:solidFill>
                  <a:srgbClr val="00D4FF"/>
                </a:solidFill>
                <a:latin typeface="Helvetica Neue"/>
              </a:rPr>
              <a:t>Path 1: Knowledge Graph + Neo4j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1.  ETL relational data into Neo4j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2.  Create nodes: Agent, Policy, Customer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3.  Create edges: ISSUED, COVERS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4.  LLM generates Cypher: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 MATCH (a:Agent)-[:ISSUED]-&gt;(p:Policy)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       -[:COVERS]-&gt;(c {name:"John Smith"})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 RETURN a.name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800" b="1" i="0">
                <a:solidFill>
                  <a:srgbClr val="FF6B6B"/>
                </a:solidFill>
                <a:latin typeface="Helvetica Neue"/>
              </a:rPr>
              <a:t>Cost: Duplicate data store, ETL pipeline, new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i="0">
                <a:solidFill>
                  <a:srgbClr val="00D4FF"/>
                </a:solidFill>
                <a:latin typeface="Helvetica Neue"/>
              </a:rPr>
              <a:t>Path 2: Semantic Layer +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1.  Relationships already exist in the warehouse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2.  SML defines: Policy → Agent via agent_id, Policy → Customer via customer_id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3.  LLM reads SML, generates SQL: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 SELECT a.name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 FROM policy p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 JOIN agent a ON p.agent_id = a.id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 JOIN customer c ON p.customer_id = c.id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 WHERE c.name = 'John Smith'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800" b="1" i="0">
                <a:solidFill>
                  <a:srgbClr val="00D4FF"/>
                </a:solidFill>
                <a:latin typeface="Helvetica Neue"/>
              </a:rPr>
              <a:t>Cost: None. Data stays where it 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i="0">
                <a:solidFill>
                  <a:srgbClr val="00D4FF"/>
                </a:solidFill>
                <a:latin typeface="Helvetica Neue"/>
              </a:rPr>
              <a:t>Side by Side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515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96388"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D4FF"/>
                          </a:solidFill>
                          <a:latin typeface="Helvetica Neue"/>
                        </a:rPr>
                        <a:t>Knowledge Graph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D4FF"/>
                          </a:solidFill>
                          <a:latin typeface="Helvetica Neue"/>
                        </a:rPr>
                        <a:t>Semantic Layer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E0E0"/>
                          </a:solidFill>
                          <a:latin typeface="Helvetica Neue"/>
                        </a:rPr>
                        <a:t>Relationships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E0E0"/>
                          </a:solidFill>
                          <a:latin typeface="Helvetica Neue"/>
                        </a:rPr>
                        <a:t>Explicit edges in graph DB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E0E0"/>
                          </a:solidFill>
                          <a:latin typeface="Helvetica Neue"/>
                        </a:rPr>
                        <a:t>Join definitions in SML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E0E0"/>
                          </a:solidFill>
                          <a:latin typeface="Helvetica Neue"/>
                        </a:rPr>
                        <a:t>Data location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E0E0"/>
                          </a:solidFill>
                          <a:latin typeface="Helvetica Neue"/>
                        </a:rPr>
                        <a:t>Duplicated into Neo4j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E0E0"/>
                          </a:solidFill>
                          <a:latin typeface="Helvetica Neue"/>
                        </a:rPr>
                        <a:t>Stays in warehouse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E0E0"/>
                          </a:solidFill>
                          <a:latin typeface="Helvetica Neue"/>
                        </a:rPr>
                        <a:t>Query language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E0E0"/>
                          </a:solidFill>
                          <a:latin typeface="Helvetica Neue"/>
                        </a:rPr>
                        <a:t>Cypher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E0E0"/>
                          </a:solidFill>
                          <a:latin typeface="Helvetica Neue"/>
                        </a:rPr>
                        <a:t>SQL (generated)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E0E0"/>
                          </a:solidFill>
                          <a:latin typeface="Helvetica Neue"/>
                        </a:rPr>
                        <a:t>Extra infra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E0E0"/>
                          </a:solidFill>
                          <a:latin typeface="Helvetica Neue"/>
                        </a:rPr>
                        <a:t>Neo4j + ETL pipeline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E0E0"/>
                          </a:solidFill>
                          <a:latin typeface="Helvetica Neue"/>
                        </a:rPr>
                        <a:t>None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E0E0"/>
                          </a:solidFill>
                          <a:latin typeface="Helvetica Neue"/>
                        </a:rPr>
                        <a:t>Data freshness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E0E0"/>
                          </a:solidFill>
                          <a:latin typeface="Helvetica Neue"/>
                        </a:rPr>
                        <a:t>Depends on ETL lag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E0E0"/>
                          </a:solidFill>
                          <a:latin typeface="Helvetica Neue"/>
                        </a:rPr>
                        <a:t>Real-time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E0E0"/>
                          </a:solidFill>
                          <a:latin typeface="Helvetica Neue"/>
                        </a:rPr>
                        <a:t>Scales with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E0E0"/>
                          </a:solidFill>
                          <a:latin typeface="Helvetica Neue"/>
                        </a:rPr>
                        <a:t>Separate concern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E0E0"/>
                          </a:solidFill>
                          <a:latin typeface="Helvetica Neue"/>
                        </a:rPr>
                        <a:t>Inherits warehouse scale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i="0">
                <a:solidFill>
                  <a:srgbClr val="00D4FF"/>
                </a:solidFill>
                <a:latin typeface="Helvetica Neue"/>
              </a:rPr>
              <a:t>"But What About Complex Traversals?"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The classic Neo4j argument: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E0E0E0"/>
                </a:solidFill>
                <a:latin typeface="Helvetica Neue"/>
              </a:rPr>
              <a:t>"Find everyone within 3 degrees of John Smith"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That requires a complex Cypher query...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400" b="1" i="0">
                <a:solidFill>
                  <a:srgbClr val="00D4FF"/>
                </a:solidFill>
                <a:latin typeface="Helvetica Neue"/>
              </a:rPr>
              <a:t>...or three simple SQL queries.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i="0">
                <a:solidFill>
                  <a:srgbClr val="00D4FF"/>
                </a:solidFill>
                <a:latin typeface="Helvetica Neue"/>
              </a:rPr>
              <a:t>LLMs Don't Need One Perfect 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An LLM with agentic reasoning decomposes: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1" i="0">
                <a:solidFill>
                  <a:srgbClr val="00D4FF"/>
                </a:solidFill>
                <a:latin typeface="Helvetica Neue"/>
              </a:rPr>
              <a:t>Step 1: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 "Who issued John Smith's policy?" → Agent ID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1" i="0">
                <a:solidFill>
                  <a:srgbClr val="00D4FF"/>
                </a:solidFill>
                <a:latin typeface="Helvetica Neue"/>
              </a:rPr>
              <a:t>Step 2: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 "What other policies did that agent issue?" → Policy list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1" i="0">
                <a:solidFill>
                  <a:srgbClr val="00D4FF"/>
                </a:solidFill>
                <a:latin typeface="Helvetica Neue"/>
              </a:rPr>
              <a:t>Step 3: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 "Who are the customers on those policies?" → Names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Three trivial, auditable, governed SQL queries.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i="0">
                <a:solidFill>
                  <a:srgbClr val="00D4FF"/>
                </a:solidFill>
                <a:latin typeface="Helvetica Neue"/>
              </a:rPr>
              <a:t>Why Decomposition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D4FF"/>
                </a:solidFill>
                <a:latin typeface="Helvetica Neue"/>
              </a:rPr>
              <a:t>Complex Cypher (one shot)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E0E0E0"/>
                </a:solidFill>
                <a:latin typeface="Helvetica Neue"/>
              </a:rPr>
              <a:t>MATCH (a)-[:ISSUED]-&gt;(p)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E0E0E0"/>
                </a:solidFill>
                <a:latin typeface="Helvetica Neue"/>
              </a:rPr>
              <a:t>  -[:COVERS]-&gt;(c)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E0E0E0"/>
                </a:solidFill>
                <a:latin typeface="Helvetica Neue"/>
              </a:rPr>
              <a:t>  -[:RELATED_TO*1..3]-(x)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E0E0E0"/>
                </a:solidFill>
                <a:latin typeface="Helvetica Neue"/>
              </a:rPr>
              <a:t>WHERE c.name = 'John Smith'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E0E0E0"/>
                </a:solidFill>
                <a:latin typeface="Helvetica Neue"/>
              </a:rPr>
              <a:t>RETURN DISTINCT x.name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E0E0E0"/>
                </a:solidFill>
                <a:latin typeface="Helvetica Neue"/>
              </a:rPr>
              <a:t>• Single opaque operation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E0E0E0"/>
                </a:solidFill>
                <a:latin typeface="Helvetica Neue"/>
              </a:rPr>
              <a:t>• Hard to debug if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D4FF"/>
                </a:solidFill>
                <a:latin typeface="Helvetica Neue"/>
              </a:rPr>
              <a:t>Multi-step SQL (agentic)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E0E0E0"/>
                </a:solidFill>
                <a:latin typeface="Helvetica Neue"/>
              </a:rPr>
              <a:t>• Each step is auditable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E0E0E0"/>
                </a:solidFill>
                <a:latin typeface="Helvetica Neue"/>
              </a:rPr>
              <a:t>• Each step is simple SQL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E0E0E0"/>
                </a:solidFill>
                <a:latin typeface="Helvetica Neue"/>
              </a:rPr>
              <a:t>• Less likely to be wrong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E0E0E0"/>
                </a:solidFill>
                <a:latin typeface="Helvetica Neue"/>
              </a:rPr>
              <a:t>• Semantic layer governs every step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E0E0E0"/>
                </a:solidFill>
                <a:latin typeface="Helvetica Neue"/>
              </a:rPr>
              <a:t>• Consistent metric definitions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E0E0E0"/>
                </a:solidFill>
                <a:latin typeface="Helvetica Neue"/>
              </a:rPr>
              <a:t>• Access control enforced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i="0">
                <a:solidFill>
                  <a:srgbClr val="00D4FF"/>
                </a:solidFill>
                <a:latin typeface="Helvetica Neue"/>
              </a:rPr>
              <a:t>What Actually Causes LLM Errors?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The failure modes are: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 •  Hallucinating a column name that doesn't exist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 •  Joining on the wrong key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 •  Misunderstanding what a metric means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 •  Missing a filter (soft deletes, date ranges)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 i="0">
                <a:solidFill>
                  <a:srgbClr val="00D4FF"/>
                </a:solidFill>
                <a:latin typeface="Helvetica Neue"/>
              </a:rPr>
              <a:t>The semantic layer addresses ALL of these.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 i="0">
                <a:solidFill>
                  <a:srgbClr val="FF6B6B"/>
                </a:solidFill>
                <a:latin typeface="Helvetica Neue"/>
              </a:rPr>
              <a:t>A graph database addresses NONE of them.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You can hallucinate Cypher just as easily as SQL.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00D4FF"/>
                </a:solidFill>
                <a:latin typeface="Helvetica Neue"/>
              </a:rPr>
              <a:t>The Principle</a:t>
            </a:r>
          </a:p>
          <a:p>
            <a:pPr algn="ctr">
              <a:spcBef>
                <a:spcPts val="2000"/>
              </a:spcBef>
            </a:pPr>
            <a:r>
              <a:rPr sz="2400" b="0" i="0">
                <a:solidFill>
                  <a:srgbClr val="E0E0E0"/>
                </a:solidFill>
                <a:latin typeface="Helvetica Neue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i="0">
                <a:solidFill>
                  <a:srgbClr val="E0E0E0"/>
                </a:solidFill>
                <a:latin typeface="Helvetica Neue"/>
              </a:rPr>
              <a:t>LLMs should be the natural language interface,
not the computation engine.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i="0">
                <a:solidFill>
                  <a:srgbClr val="00D4FF"/>
                </a:solidFill>
                <a:latin typeface="Helvetica Neue"/>
              </a:rPr>
              <a:t>The Right Tool for Each Job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D4FF"/>
                          </a:solidFill>
                          <a:latin typeface="Helvetica Neue"/>
                        </a:rPr>
                        <a:t>Task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D4FF"/>
                          </a:solidFill>
                          <a:latin typeface="Helvetica Neue"/>
                        </a:rPr>
                        <a:t>LLM Role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D4FF"/>
                          </a:solidFill>
                          <a:latin typeface="Helvetica Neue"/>
                        </a:rPr>
                        <a:t>Delegate To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E0E0"/>
                          </a:solidFill>
                          <a:latin typeface="Helvetica Neue"/>
                        </a:rPr>
                        <a:t>"15% of $4,230?"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E0E0"/>
                          </a:solidFill>
                          <a:latin typeface="Helvetica Neue"/>
                        </a:rPr>
                        <a:t>Parse question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E0E0"/>
                          </a:solidFill>
                          <a:latin typeface="Helvetica Neue"/>
                        </a:rPr>
                        <a:t>Calculator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E0E0"/>
                          </a:solidFill>
                          <a:latin typeface="Helvetica Neue"/>
                        </a:rPr>
                        <a:t>"Who issued the policy?"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E0E0"/>
                          </a:solidFill>
                          <a:latin typeface="Helvetica Neue"/>
                        </a:rPr>
                        <a:t>Understand intent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E0E0"/>
                          </a:solidFill>
                          <a:latin typeface="Helvetica Neue"/>
                        </a:rPr>
                        <a:t>Semantic layer + SQL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E0E0"/>
                          </a:solidFill>
                          <a:latin typeface="Helvetica Neue"/>
                        </a:rPr>
                        <a:t>"Is this fraudulent?"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E0E0"/>
                          </a:solidFill>
                          <a:latin typeface="Helvetica Neue"/>
                        </a:rPr>
                        <a:t>Frame question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E0E0"/>
                          </a:solidFill>
                          <a:latin typeface="Helvetica Neue"/>
                        </a:rPr>
                        <a:t>Bayesian model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E0E0"/>
                          </a:solidFill>
                          <a:latin typeface="Helvetica Neue"/>
                        </a:rPr>
                        <a:t>"Last quarter's revenue?"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E0E0"/>
                          </a:solidFill>
                          <a:latin typeface="Helvetica Neue"/>
                        </a:rPr>
                        <a:t>Present answer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E0E0E0"/>
                          </a:solidFill>
                          <a:latin typeface="Helvetica Neue"/>
                        </a:rPr>
                        <a:t>Governed metrics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i="0">
                <a:solidFill>
                  <a:srgbClr val="00D4FF"/>
                </a:solidFill>
                <a:latin typeface="Helvetica Neue"/>
              </a:rPr>
              <a:t>The Neo4j Case Gets Weaker Over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As LLMs improve at multi-step reasoning: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 •  "Complex query" advantage of graph DBs erodes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    LLMs decompose complex questions into simple ones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 •  "Schema understanding" advantage of semantic layers grows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    LLMs read SML and reason about relationships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 •  Data duplication cost stays constant or worsens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    Data volumes only go up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i="0">
                <a:solidFill>
                  <a:srgbClr val="00D4FF"/>
                </a:solidFill>
                <a:latin typeface="Helvetica Neue"/>
              </a:rPr>
              <a:t>When You Actually Need a Graph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 •  Data is natively graph-shaped (social networks, fraud rings)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 •  You need graph algorithms (PageRank, shortest path)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 •  Integrating unstructured sources (entity extraction)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For enterprise analytics against warehouse data?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800" b="1" i="0">
                <a:solidFill>
                  <a:srgbClr val="00D4FF"/>
                </a:solidFill>
                <a:latin typeface="Helvetica Neue"/>
              </a:rPr>
              <a:t>The semantic layer IS the knowledge graph.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i="0">
                <a:solidFill>
                  <a:srgbClr val="00D4FF"/>
                </a:solidFill>
                <a:latin typeface="Helvetica Neue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 i="0">
                <a:solidFill>
                  <a:srgbClr val="00D4FF"/>
                </a:solidFill>
                <a:latin typeface="Helvetica Neue"/>
              </a:rPr>
              <a:t>1.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The semantic layer already encodes the relationship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metadata a knowledge graph would duplicate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 i="0">
                <a:solidFill>
                  <a:srgbClr val="00D4FF"/>
                </a:solidFill>
                <a:latin typeface="Helvetica Neue"/>
              </a:rPr>
              <a:t>2.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LLMs + simple tools beat LLMs + complex tools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 i="0">
                <a:solidFill>
                  <a:srgbClr val="00D4FF"/>
                </a:solidFill>
                <a:latin typeface="Helvetica Neue"/>
              </a:rPr>
              <a:t>3.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Use LLMs for language, delegate everything else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to authoritative tools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 i="0">
                <a:solidFill>
                  <a:srgbClr val="00D4FF"/>
                </a:solidFill>
                <a:latin typeface="Helvetica Neue"/>
              </a:rPr>
              <a:t>4.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System quality depends on tool quality,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E0E0E0"/>
                </a:solidFill>
                <a:latin typeface="Helvetica Neue"/>
              </a:rPr>
              <a:t>   not on making the LLM smarter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00D4FF"/>
                </a:solidFill>
                <a:latin typeface="Helvetica Neue"/>
              </a:rPr>
              <a:t>Thank You</a:t>
            </a:r>
          </a:p>
          <a:p>
            <a:pPr algn="ctr">
              <a:spcBef>
                <a:spcPts val="2000"/>
              </a:spcBef>
            </a:pPr>
            <a:r>
              <a:rPr sz="2400" b="0" i="0">
                <a:solidFill>
                  <a:srgbClr val="E0E0E0"/>
                </a:solidFill>
                <a:latin typeface="Helvetica Neue"/>
              </a:rPr>
              <a:t>The Semantic Layer as the Enterprise Knowledge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1">
                <a:solidFill>
                  <a:srgbClr val="909090"/>
                </a:solidFill>
                <a:latin typeface="Helvetica Neue"/>
              </a:rPr>
              <a:t>LLMs for language. Real tools for real answers.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